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82EJfHuKKm64cKghmXG9IaF48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3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4" name="Google Shape;11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A44"/>
                </a:solidFill>
              </a:rPr>
              <a:t>PostgreSQL se elige para soportar relaciones claras, restricciones de integridad y consultas analíticas sobre datos históricos.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8" name="Google Shape;22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5.jpg"/><Relationship Id="rId5" Type="http://schemas.openxmlformats.org/officeDocument/2006/relationships/image" Target="../media/image11.jpg"/><Relationship Id="rId6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C"/>
          </a:solidFill>
          <a:ln cap="flat" cmpd="sng" w="12700">
            <a:solidFill>
              <a:srgbClr val="F9FB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15" name="Google Shape;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75488"/>
            <a:ext cx="379476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566928" y="190195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Proyecto Capstone 2026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30352" y="2304288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TEAprendo 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66928" y="297180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Plataforma inteligente para el seguimiento educativo de estudiantes con neuro divergencias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66928" y="3730752"/>
            <a:ext cx="3749040" cy="292608"/>
          </a:xfrm>
          <a:prstGeom prst="roundRect">
            <a:avLst>
              <a:gd fmla="val 16667" name="adj"/>
            </a:avLst>
          </a:prstGeom>
          <a:solidFill>
            <a:srgbClr val="DFF4F6"/>
          </a:solidFill>
          <a:ln cap="flat" cmpd="sng" w="9525">
            <a:solidFill>
              <a:srgbClr val="2D8EA3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PostgreSQL + Análisis de datos + Asistente IA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66928" y="528523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Gloria Aranda · Jorge Zarricueta · Daniel Paz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66928" y="5614416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8 de septiembre de 2026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498080" y="1417320"/>
            <a:ext cx="4160520" cy="4434840"/>
          </a:xfrm>
          <a:prstGeom prst="roundRect">
            <a:avLst>
              <a:gd fmla="val 1758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818120" y="1810512"/>
            <a:ext cx="1143000" cy="310896"/>
          </a:xfrm>
          <a:prstGeom prst="roundRect">
            <a:avLst>
              <a:gd fmla="val 16667" name="adj"/>
            </a:avLst>
          </a:prstGeom>
          <a:solidFill>
            <a:srgbClr val="EAF7FA"/>
          </a:solidFill>
          <a:ln cap="flat" cmpd="sng" w="9525">
            <a:solidFill>
              <a:srgbClr val="EAF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Registro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052560" y="1828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372600" y="1810512"/>
            <a:ext cx="1143000" cy="310896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FFF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0607040" y="1828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0927080" y="1810512"/>
            <a:ext cx="411480" cy="310896"/>
          </a:xfrm>
          <a:prstGeom prst="roundRect">
            <a:avLst>
              <a:gd fmla="val 16667" name="adj"/>
            </a:avLst>
          </a:prstGeom>
          <a:solidFill>
            <a:srgbClr val="F1ECFF"/>
          </a:solidFill>
          <a:ln cap="flat" cmpd="sng" w="9525">
            <a:solidFill>
              <a:srgbClr val="F1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028432" y="2779776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Datos históricos convertidos en apoyo contextual para el educador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101584" y="4572000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No diagnostica · No reemplaza criterio profesional · Usa información autorizada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Equipo y responsabilidades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Distribución de roles para asegurar gestión, construcción técnica y validación del proyecto.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58368" y="1627632"/>
            <a:ext cx="2971800" cy="3429000"/>
          </a:xfrm>
          <a:prstGeom prst="roundRect">
            <a:avLst>
              <a:gd fmla="val 2462" name="adj"/>
            </a:avLst>
          </a:prstGeom>
          <a:solidFill>
            <a:srgbClr val="FFF4D8"/>
          </a:solidFill>
          <a:ln cap="flat" cmpd="sng" w="9525">
            <a:solidFill>
              <a:srgbClr val="D9E5E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68680" y="1847088"/>
            <a:ext cx="512064" cy="512064"/>
          </a:xfrm>
          <a:prstGeom prst="ellipse">
            <a:avLst/>
          </a:prstGeom>
          <a:solidFill>
            <a:srgbClr val="F4A62A"/>
          </a:solidFill>
          <a:ln cap="flat" cmpd="sng" w="9525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86968" y="2633472"/>
            <a:ext cx="2468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Gloria Aranda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86968" y="29992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6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4A62A"/>
                </a:solidFill>
                <a:latin typeface="Arial"/>
                <a:ea typeface="Arial"/>
                <a:cs typeface="Arial"/>
                <a:sym typeface="Arial"/>
              </a:rPr>
              <a:t>Jefe de Proyecto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78408" y="3547872"/>
            <a:ext cx="23042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Gestión del proyecto, planificación, documentación, seguimiento y control.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160520" y="1627632"/>
            <a:ext cx="2971800" cy="3429000"/>
          </a:xfrm>
          <a:prstGeom prst="roundRect">
            <a:avLst>
              <a:gd fmla="val 2462" name="adj"/>
            </a:avLst>
          </a:prstGeom>
          <a:solidFill>
            <a:srgbClr val="EAF7FA"/>
          </a:solidFill>
          <a:ln cap="flat" cmpd="sng" w="9525">
            <a:solidFill>
              <a:srgbClr val="D9E5E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370832" y="1847088"/>
            <a:ext cx="512064" cy="512064"/>
          </a:xfrm>
          <a:prstGeom prst="ellipse">
            <a:avLst/>
          </a:prstGeom>
          <a:solidFill>
            <a:srgbClr val="2D8EA3"/>
          </a:solidFill>
          <a:ln cap="flat" cmpd="sng" w="9525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389120" y="2633472"/>
            <a:ext cx="2468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Jorge Zarricueta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389120" y="29992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Desarrollador de Software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480560" y="3547872"/>
            <a:ext cx="23042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Desarrollo de la aplicación, interfaces, funcionalidades e integración.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662672" y="1627632"/>
            <a:ext cx="2971800" cy="3429000"/>
          </a:xfrm>
          <a:prstGeom prst="roundRect">
            <a:avLst>
              <a:gd fmla="val 2462" name="adj"/>
            </a:avLst>
          </a:prstGeom>
          <a:solidFill>
            <a:srgbClr val="DFF4F6"/>
          </a:solidFill>
          <a:ln cap="flat" cmpd="sng" w="9525">
            <a:solidFill>
              <a:srgbClr val="D9E5E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872984" y="1847088"/>
            <a:ext cx="512064" cy="512064"/>
          </a:xfrm>
          <a:prstGeom prst="ellipse">
            <a:avLst/>
          </a:prstGeom>
          <a:solidFill>
            <a:srgbClr val="1F2A44"/>
          </a:solidFill>
          <a:ln cap="flat" cmpd="sng" w="9525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891272" y="2633472"/>
            <a:ext cx="2468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Daniel Paz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891272" y="29992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Backend y Datos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982712" y="3547872"/>
            <a:ext cx="23042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PostgreSQL, procesamiento de datos, módulo analítico e integración IA.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-·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64" name="Google Shape;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Problema</a:t>
            </a:r>
            <a:endParaRPr b="1" i="0" sz="2600" u="none" cap="none" strike="noStrike">
              <a:solidFill>
                <a:srgbClr val="1F2A44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t/>
            </a:r>
            <a:endParaRPr b="1" i="0" sz="2600" u="none" cap="none" strike="noStrike">
              <a:solidFill>
                <a:srgbClr val="1F2A44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El seguimiento genera mucha información, pero su análisis manual limita la oportunidad de respuesta.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85800" y="157276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SITUACIÓN ACTUAL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85800" y="1847088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Durante el año escolar se acumulan antecedentes sobre situaciones observadas, contextos, estrategias aplicadas y resultados.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85800" y="3063240"/>
            <a:ext cx="3749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Cuando la información crece, revisar manualmente el historial dificulta identificar recurrencias, antecedentes relevantes y estrategias previamente útiles.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800600" y="1481328"/>
            <a:ext cx="6629400" cy="452628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138928" y="1901952"/>
            <a:ext cx="2240280" cy="329184"/>
          </a:xfrm>
          <a:prstGeom prst="roundRect">
            <a:avLst>
              <a:gd fmla="val 16667" name="adj"/>
            </a:avLst>
          </a:prstGeom>
          <a:solidFill>
            <a:srgbClr val="FFE5B9"/>
          </a:solidFill>
          <a:ln cap="flat" cmpd="sng" w="9525">
            <a:solidFill>
              <a:srgbClr val="FFE5B9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Datos dispersos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7543800" y="193852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001000" y="185623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registros, citas, informes y observaciones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138928" y="3136392"/>
            <a:ext cx="2240280" cy="329184"/>
          </a:xfrm>
          <a:prstGeom prst="roundRect">
            <a:avLst>
              <a:gd fmla="val 16667" name="adj"/>
            </a:avLst>
          </a:prstGeom>
          <a:solidFill>
            <a:srgbClr val="EAF7FA"/>
          </a:solidFill>
          <a:ln cap="flat" cmpd="sng" w="9525">
            <a:solidFill>
              <a:srgbClr val="EAF7FA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Lectura manual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543800" y="317296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001000" y="309067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mucho tiempo para encontrar antecedentes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138928" y="4370832"/>
            <a:ext cx="2240280" cy="329184"/>
          </a:xfrm>
          <a:prstGeom prst="roundRect">
            <a:avLst>
              <a:gd fmla="val 16667" name="adj"/>
            </a:avLst>
          </a:prstGeom>
          <a:solidFill>
            <a:srgbClr val="FDECEC"/>
          </a:solidFill>
          <a:ln cap="flat" cmpd="sng" w="9525">
            <a:solidFill>
              <a:srgbClr val="FDECEC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Respuesta reactiva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543800" y="440740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8001000" y="432511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se actúa con información incompleta o tardía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Propuesta de solución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 integra gestión, analítica y asistencia conversacional en una sola plataforma.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85800" y="1645920"/>
            <a:ext cx="2057400" cy="2743200"/>
          </a:xfrm>
          <a:prstGeom prst="roundRect">
            <a:avLst>
              <a:gd fmla="val 3556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32104" y="1810512"/>
            <a:ext cx="411480" cy="411480"/>
          </a:xfrm>
          <a:prstGeom prst="ellipse">
            <a:avLst/>
          </a:prstGeom>
          <a:solidFill>
            <a:srgbClr val="2D8EA3"/>
          </a:solidFill>
          <a:ln cap="flat" cmpd="sng" w="9525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32104" y="245059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Registrar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68680" y="28803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Observaciones, contexto, estrategias y resultados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926080" y="1645920"/>
            <a:ext cx="2057400" cy="2743200"/>
          </a:xfrm>
          <a:prstGeom prst="roundRect">
            <a:avLst>
              <a:gd fmla="val 3556" name="adj"/>
            </a:avLst>
          </a:prstGeom>
          <a:solidFill>
            <a:srgbClr val="EAF6E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072384" y="1810512"/>
            <a:ext cx="411480" cy="411480"/>
          </a:xfrm>
          <a:prstGeom prst="ellipse">
            <a:avLst/>
          </a:prstGeom>
          <a:solidFill>
            <a:srgbClr val="2D8EA3"/>
          </a:solidFill>
          <a:ln cap="flat" cmpd="sng" w="9525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072384" y="245059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Almacenar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108960" y="28803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Modelo relacional PostgreSQL con integridad y trazabilidad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166360" y="1645920"/>
            <a:ext cx="2057400" cy="2743200"/>
          </a:xfrm>
          <a:prstGeom prst="roundRect">
            <a:avLst>
              <a:gd fmla="val 3556" name="adj"/>
            </a:avLst>
          </a:prstGeom>
          <a:solidFill>
            <a:srgbClr val="FFF4D8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312664" y="1810512"/>
            <a:ext cx="411480" cy="411480"/>
          </a:xfrm>
          <a:prstGeom prst="ellipse">
            <a:avLst/>
          </a:prstGeom>
          <a:solidFill>
            <a:srgbClr val="1F2A44"/>
          </a:solidFill>
          <a:ln cap="flat" cmpd="sng" w="9525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312664" y="245059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Analizar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349240" y="28803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Tendencias, recurrencias, frecuencias y efectividad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406640" y="1645920"/>
            <a:ext cx="2057400" cy="2743200"/>
          </a:xfrm>
          <a:prstGeom prst="roundRect">
            <a:avLst>
              <a:gd fmla="val 3556" name="adj"/>
            </a:avLst>
          </a:prstGeom>
          <a:solidFill>
            <a:srgbClr val="F1EC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552944" y="1810512"/>
            <a:ext cx="411480" cy="411480"/>
          </a:xfrm>
          <a:prstGeom prst="ellipse">
            <a:avLst/>
          </a:prstGeom>
          <a:solidFill>
            <a:srgbClr val="1F2A44"/>
          </a:solidFill>
          <a:ln cap="flat" cmpd="sng" w="9525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552944" y="245059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Consultar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589520" y="28803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Chatbot con lenguaje natural y permisos validados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9646920" y="1645920"/>
            <a:ext cx="2057400" cy="2743200"/>
          </a:xfrm>
          <a:prstGeom prst="roundRect">
            <a:avLst>
              <a:gd fmla="val 3556" name="adj"/>
            </a:avLst>
          </a:prstGeom>
          <a:solidFill>
            <a:srgbClr val="FFE5B9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9793224" y="1810512"/>
            <a:ext cx="411480" cy="411480"/>
          </a:xfrm>
          <a:prstGeom prst="ellipse">
            <a:avLst/>
          </a:prstGeom>
          <a:solidFill>
            <a:srgbClr val="F4A62A"/>
          </a:solidFill>
          <a:ln cap="flat" cmpd="sng" w="9525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9793224" y="245059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Sugerir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829800" y="28803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Apoyo contextual sin reemplazar criterio profesional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62A"/>
          </a:solidFill>
          <a:ln cap="flat" cmpd="sng" w="12700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4A62A">
              <a:alpha val="74902"/>
            </a:srgbClr>
          </a:solidFill>
          <a:ln cap="flat" cmpd="sng" w="12700">
            <a:solidFill>
              <a:srgbClr val="F4A6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119" name="Google Shape;1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Arquitectura de software propuesta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Separación de responsabilidades para facilitar seguridad, escalabilidad y consumo controlado de datos.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2" title="Sin títul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50" y="1956177"/>
            <a:ext cx="12192000" cy="3232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Carta Gantt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85800" y="1417320"/>
            <a:ext cx="5257800" cy="4709160"/>
          </a:xfrm>
          <a:prstGeom prst="roundRect">
            <a:avLst>
              <a:gd fmla="val 1553" name="adj"/>
            </a:avLst>
          </a:prstGeom>
          <a:solidFill>
            <a:srgbClr val="F3FBF6"/>
          </a:solidFill>
          <a:ln cap="flat" cmpd="sng" w="9525">
            <a:solidFill>
              <a:srgbClr val="CDEBD3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960120" y="166420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Alcances principales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960120" y="2212848"/>
            <a:ext cx="4480560" cy="3090672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Gestión de usuarios, roles y estudiantes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Gestión de cursos, agenda y notificaciones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Registro de observaciones conductuales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Registro de estrategias y resultados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Consulta de historial y dashboard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Análisis de tendencias y recurrencias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Asistente conversacional con IA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Generación de sugerencias contextualizadas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263640" y="1417320"/>
            <a:ext cx="5257800" cy="4709160"/>
          </a:xfrm>
          <a:prstGeom prst="roundRect">
            <a:avLst>
              <a:gd fmla="val 1553" name="adj"/>
            </a:avLst>
          </a:prstGeom>
          <a:solidFill>
            <a:srgbClr val="FFF4F4"/>
          </a:solidFill>
          <a:ln cap="flat" cmpd="sng" w="9525">
            <a:solidFill>
              <a:srgbClr val="F4CCCC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537960" y="166420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Limitaciones declaradas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537960" y="2212848"/>
            <a:ext cx="4480560" cy="2779776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No realiza diagnósticos clínicos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No predice crisis de forma determinista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No reemplaza el criterio del educador o profesional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Las sugerencias dependen de los datos disponibles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El análisis se limita a información registrada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El chatbot puede depender de servicios externos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325" y="1328187"/>
            <a:ext cx="11571052" cy="476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62A"/>
          </a:solidFill>
          <a:ln cap="flat" cmpd="sng" w="12700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4A62A">
              <a:alpha val="74902"/>
            </a:srgbClr>
          </a:solidFill>
          <a:ln cap="flat" cmpd="sng" w="12700">
            <a:solidFill>
              <a:srgbClr val="F4A6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-·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Roles del sistema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10132" y="2660842"/>
            <a:ext cx="3365100" cy="868800"/>
          </a:xfrm>
          <a:prstGeom prst="roundRect">
            <a:avLst>
              <a:gd fmla="val 8421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226866" y="2866659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2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Administrador General</a:t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20"/>
              <a:buFont typeface="Arial"/>
              <a:buNone/>
            </a:pPr>
            <a:r>
              <a:t/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413452" y="2660842"/>
            <a:ext cx="3365100" cy="86880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930211" y="2866659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2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Director</a:t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20"/>
              <a:buFont typeface="Arial"/>
              <a:buNone/>
            </a:pPr>
            <a:r>
              <a:t/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116772" y="2660842"/>
            <a:ext cx="3365100" cy="868800"/>
          </a:xfrm>
          <a:prstGeom prst="roundRect">
            <a:avLst>
              <a:gd fmla="val 8421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633531" y="2866659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2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Docente</a:t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20"/>
              <a:buFont typeface="Arial"/>
              <a:buNone/>
            </a:pPr>
            <a:r>
              <a:t/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2561645" y="3906708"/>
            <a:ext cx="3365100" cy="86880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290979" y="4112499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2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Terapeuta</a:t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20"/>
              <a:buFont typeface="Arial"/>
              <a:buNone/>
            </a:pPr>
            <a:r>
              <a:t/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264964" y="3906708"/>
            <a:ext cx="3365100" cy="868800"/>
          </a:xfrm>
          <a:prstGeom prst="roundRect">
            <a:avLst>
              <a:gd fmla="val 8421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781724" y="4112499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2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Apoderado</a:t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20"/>
              <a:buFont typeface="Arial"/>
              <a:buNone/>
            </a:pPr>
            <a:r>
              <a:t/>
            </a:r>
            <a:endParaRPr b="1" i="0" sz="1220" u="none" cap="none" strike="noStrike">
              <a:solidFill>
                <a:srgbClr val="1F2A4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62A"/>
          </a:solidFill>
          <a:ln cap="flat" cmpd="sng" w="12700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4A62A">
              <a:alpha val="74902"/>
            </a:srgbClr>
          </a:solidFill>
          <a:ln cap="flat" cmpd="sng" w="12700">
            <a:solidFill>
              <a:srgbClr val="F4A6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675" y="2481425"/>
            <a:ext cx="5696876" cy="322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200" y="2481425"/>
            <a:ext cx="5848776" cy="3221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pt_extract/ppt/media/image1.jpg" id="171" name="Google Shape;17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502920" y="438912"/>
            <a:ext cx="8138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Agenda Profesional</a:t>
            </a:r>
            <a:endParaRPr b="1" i="0" sz="2600" u="none" cap="none" strike="noStrike">
              <a:solidFill>
                <a:srgbClr val="1F2A44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502920" y="350512"/>
            <a:ext cx="8138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Citas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50" y="914397"/>
            <a:ext cx="5747190" cy="28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2200" y="850400"/>
            <a:ext cx="4391127" cy="286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8140" y="3865174"/>
            <a:ext cx="5392932" cy="2730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62A"/>
          </a:solidFill>
          <a:ln cap="flat" cmpd="sng" w="12700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4A62A">
              <a:alpha val="74902"/>
            </a:srgbClr>
          </a:solidFill>
          <a:ln cap="flat" cmpd="sng" w="12700">
            <a:solidFill>
              <a:srgbClr val="F4A6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194" name="Google Shape;1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Módulo de análisis de datos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El sistema procesa registros históricos para identificar tendencias, recurrencias y efectividad.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731520" y="1591056"/>
            <a:ext cx="2423160" cy="1965960"/>
          </a:xfrm>
          <a:prstGeom prst="roundRect">
            <a:avLst>
              <a:gd fmla="val 3721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896112" y="185623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Frecuencia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987552" y="2423160"/>
            <a:ext cx="19019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Cantidad de registros por período, estudiante o contexto.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3520440" y="1591056"/>
            <a:ext cx="2423160" cy="1965960"/>
          </a:xfrm>
          <a:prstGeom prst="roundRect">
            <a:avLst>
              <a:gd fmla="val 3721" name="adj"/>
            </a:avLst>
          </a:prstGeom>
          <a:solidFill>
            <a:srgbClr val="EAF6E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685032" y="185623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Recurrencia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3776472" y="2423160"/>
            <a:ext cx="19019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Situaciones que se repiten bajo condiciones similares.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309360" y="1591056"/>
            <a:ext cx="2423160" cy="1965960"/>
          </a:xfrm>
          <a:prstGeom prst="roundRect">
            <a:avLst>
              <a:gd fmla="val 3721" name="adj"/>
            </a:avLst>
          </a:prstGeom>
          <a:solidFill>
            <a:srgbClr val="FFF4D8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473952" y="185623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Efectividad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6565392" y="2423160"/>
            <a:ext cx="19019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Resultados asociados a estrategias aplicadas.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9098280" y="1591056"/>
            <a:ext cx="2423160" cy="1965960"/>
          </a:xfrm>
          <a:prstGeom prst="roundRect">
            <a:avLst>
              <a:gd fmla="val 3721" name="adj"/>
            </a:avLst>
          </a:prstGeom>
          <a:solidFill>
            <a:srgbClr val="F1EC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9262872" y="185623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Tendencia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9354312" y="2423160"/>
            <a:ext cx="19019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Cambios en intensidad, duración o frecuencia en el tiempo.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1097280" y="4251960"/>
            <a:ext cx="9921240" cy="1298448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417320" y="45079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62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4A62A"/>
                </a:solidFill>
                <a:latin typeface="Arial"/>
                <a:ea typeface="Arial"/>
                <a:cs typeface="Arial"/>
                <a:sym typeface="Arial"/>
              </a:rPr>
              <a:t>Ejemplo de resultado analítico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1417320" y="4818888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“En los últimos 30 días, los registros asociados a cambios de rutina aparecen con mayor frecuencia. La estrategia de anticipación visual tuvo resultados favorables en la mayoría de los casos registrados.”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220" name="Google Shape;2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1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Asistente conversacional con IA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11" title="WhatsApp Image 2026-10-12 at 11.13.15 PM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000" y="1599125"/>
            <a:ext cx="5354051" cy="365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1" title="WhatsApp Image 2026-10-12 at 11.13.32 PM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2201" y="961975"/>
            <a:ext cx="6265448" cy="2687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1" title="WhatsApp Image 2026-10-12 at 11.17.14 PM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22201" y="3834056"/>
            <a:ext cx="6265448" cy="267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233" name="Google Shape;2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3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Modelo de datos PostgreSQL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La base relacional permitirá integridad, trazabilidad y consultas analíticas sobre el seguimiento.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0375" y="1324237"/>
            <a:ext cx="6390955" cy="501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62A"/>
          </a:solidFill>
          <a:ln cap="flat" cmpd="sng" w="12700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4A62A">
              <a:alpha val="74902"/>
            </a:srgbClr>
          </a:solidFill>
          <a:ln cap="flat" cmpd="sng" w="12700">
            <a:solidFill>
              <a:srgbClr val="F4A6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245" name="Google Shape;2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4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Metodología de trabajo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Cascada controlada, con revisión por hitos e integración progresiva de componentes.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658368" y="1719072"/>
            <a:ext cx="1572768" cy="1828800"/>
          </a:xfrm>
          <a:prstGeom prst="roundRect">
            <a:avLst>
              <a:gd fmla="val 4651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786384" y="1938528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813816" y="2578608"/>
            <a:ext cx="1261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Requerimientos y alcance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2249424" y="245059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2532888" y="1719072"/>
            <a:ext cx="1572768" cy="1828800"/>
          </a:xfrm>
          <a:prstGeom prst="roundRect">
            <a:avLst>
              <a:gd fmla="val 4651" name="adj"/>
            </a:avLst>
          </a:prstGeom>
          <a:solidFill>
            <a:srgbClr val="EAF6E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2660904" y="1938528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2688336" y="2578608"/>
            <a:ext cx="1261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Arquitectura, BD y prototipos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4123944" y="245059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4407408" y="1719072"/>
            <a:ext cx="1572768" cy="1828800"/>
          </a:xfrm>
          <a:prstGeom prst="roundRect">
            <a:avLst>
              <a:gd fmla="val 4651" name="adj"/>
            </a:avLst>
          </a:prstGeom>
          <a:solidFill>
            <a:srgbClr val="FFF4D8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4535424" y="1938528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4562856" y="2578608"/>
            <a:ext cx="1261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Backend, app y módulos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5998464" y="245059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6281928" y="1719072"/>
            <a:ext cx="1572768" cy="1828800"/>
          </a:xfrm>
          <a:prstGeom prst="roundRect">
            <a:avLst>
              <a:gd fmla="val 4651" name="adj"/>
            </a:avLst>
          </a:prstGeom>
          <a:solidFill>
            <a:srgbClr val="FFE5B9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6409944" y="1938528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6437376" y="2578608"/>
            <a:ext cx="1261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PostgreSQL + análisis + IA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7872984" y="245059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8156448" y="1719072"/>
            <a:ext cx="1572768" cy="1828800"/>
          </a:xfrm>
          <a:prstGeom prst="roundRect">
            <a:avLst>
              <a:gd fmla="val 4651" name="adj"/>
            </a:avLst>
          </a:prstGeom>
          <a:solidFill>
            <a:srgbClr val="F1EC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8284464" y="1938528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8311896" y="2578608"/>
            <a:ext cx="1261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Funcionales, integración y seguridad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9747504" y="245059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10030968" y="1719072"/>
            <a:ext cx="1572768" cy="1828800"/>
          </a:xfrm>
          <a:prstGeom prst="roundRect">
            <a:avLst>
              <a:gd fmla="val 4651" name="adj"/>
            </a:avLst>
          </a:prstGeom>
          <a:solidFill>
            <a:srgbClr val="F5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10158984" y="1938528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10186416" y="2578608"/>
            <a:ext cx="1261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Evidencias y defensa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1005840" y="4462272"/>
            <a:ext cx="100126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1371600" y="4645152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2176272" y="4718304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Trazabilidad entre requerimientos, diseño, desarrollo y pruebas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6309360" y="4645152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62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4A62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7114032" y="4718304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Responsables definidos, revisión conjunta y control del alcance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284" name="Google Shape;2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7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Cierre de la propuesta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busca transformar datos educativos en apoyo oportuno para el seguimiento.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960120" y="1600200"/>
            <a:ext cx="10195560" cy="3429000"/>
          </a:xfrm>
          <a:prstGeom prst="roundRect">
            <a:avLst>
              <a:gd fmla="val 2133" name="adj"/>
            </a:avLst>
          </a:prstGeom>
          <a:solidFill>
            <a:srgbClr val="F8FBFC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1417320" y="1965960"/>
            <a:ext cx="9235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TEAprendo no se limita a almacenar información.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1600200" y="2770632"/>
            <a:ext cx="8869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El valor del proyecto está en registrar datos relevantes, analizarlos, identificar patrones y entregar sugerencias contextualizadas mediante un asistente IA seguro y controlado.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2011680" y="4041648"/>
            <a:ext cx="809244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Datos → Análisis → Contexto → Sugerencia → Decisión profesional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5010912" y="5715000"/>
            <a:ext cx="2176272" cy="411480"/>
          </a:xfrm>
          <a:prstGeom prst="roundRect">
            <a:avLst>
              <a:gd fmla="val 16667" name="adj"/>
            </a:avLst>
          </a:prstGeom>
          <a:solidFill>
            <a:srgbClr val="1F2A44"/>
          </a:solidFill>
          <a:ln cap="flat" cmpd="sng" w="9525">
            <a:solidFill>
              <a:srgbClr val="1F2A44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Preguntas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2026-09-07T01:56:55Z</dcterms:created>
  <dc:creator>Daniel Paz</dc:creator>
</cp:coreProperties>
</file>