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VQevDyGyWcFYccAH5cblvy0/1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bold.fntdata"/><Relationship Id="rId10" Type="http://schemas.openxmlformats.org/officeDocument/2006/relationships/slide" Target="slides/slide6.xml"/><Relationship Id="rId21" Type="http://schemas.openxmlformats.org/officeDocument/2006/relationships/font" Target="fonts/Play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300">
                <a:solidFill>
                  <a:srgbClr val="1F2A44"/>
                </a:solidFill>
              </a:rPr>
              <a:t>Trabajo colaborativo: decisiones de requerimientos, arquitectura, integración y pruebas revisadas en conjunto.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30"/>
              <a:buNone/>
            </a:pPr>
            <a:r>
              <a:rPr b="1" lang="en-US" sz="1230">
                <a:solidFill>
                  <a:srgbClr val="1F2A44"/>
                </a:solidFill>
              </a:rPr>
              <a:t>Oportunidad del proyecto: centralizar, estructurar y analizar la información para facilitar una consulta rápida y contextualizada.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>
                <a:solidFill>
                  <a:srgbClr val="1F2A44"/>
                </a:solidFill>
              </a:rPr>
              <a:t>Valor diferencial: el CRUD captura la información; el módulo analítico y la IA convierten esos datos en antecedentes útiles para actuar con mayor oportunidad.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3" name="Google Shape;8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>
                <a:solidFill>
                  <a:srgbClr val="B54747"/>
                </a:solidFill>
              </a:rPr>
              <a:t>Principio rector: la plataforma apoya decisiones, no las automatiza.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b="1" lang="en-US" sz="1260">
                <a:solidFill>
                  <a:srgbClr val="1F2A44"/>
                </a:solidFill>
              </a:rPr>
              <a:t>Regla arquitectónica clave: el proveedor IA no accede directamente a PostgreSQL; recibe información filtrada, autorizada y procesada por los servicios del sistema.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77" name="Google Shape;27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A44"/>
                </a:solidFill>
              </a:rPr>
              <a:t>PostgreSQL se elige para soportar relaciones claras, restricciones de integridad y consultas analíticas sobre datos históricos.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303" name="Google Shape;303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4" name="Google Shape;40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 sz="1200">
                <a:solidFill>
                  <a:srgbClr val="1F2A44"/>
                </a:solidFill>
              </a:rPr>
              <a:t>Criterio 10/10: demostrar una evolución clara de gestión CRUD a plataforma con datos estructurados, análisis histórico, IA controlada y evidencia de validación.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405" name="Google Shape;40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C"/>
          </a:solidFill>
          <a:ln cap="flat" cmpd="sng" w="12700">
            <a:solidFill>
              <a:srgbClr val="F9FB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5" name="Google Shape;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75488"/>
            <a:ext cx="379476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566928" y="190195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Proyecto Capstone 2026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30352" y="2304288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4000"/>
              <a:buFont typeface="Arial"/>
              <a:buNone/>
            </a:pPr>
            <a:r>
              <a:rPr b="1" lang="en-US" sz="40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TEAprendo 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66928" y="297180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Plataforma inteligente para el seguimiento educativo de estudiantes con </a:t>
            </a:r>
            <a:r>
              <a:rPr lang="en-US" sz="1800">
                <a:solidFill>
                  <a:srgbClr val="465465"/>
                </a:solidFill>
              </a:rPr>
              <a:t>neuro divergencias</a:t>
            </a:r>
            <a:r>
              <a:rPr lang="en-US" sz="1800">
                <a:solidFill>
                  <a:srgbClr val="465465"/>
                </a:solidFill>
              </a:rPr>
              <a:t>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66928" y="3730752"/>
            <a:ext cx="3749040" cy="292608"/>
          </a:xfrm>
          <a:prstGeom prst="roundRect">
            <a:avLst>
              <a:gd fmla="val 16667" name="adj"/>
            </a:avLst>
          </a:prstGeom>
          <a:solidFill>
            <a:srgbClr val="DFF4F6"/>
          </a:solidFill>
          <a:ln cap="flat" cmpd="sng" w="9525">
            <a:solidFill>
              <a:srgbClr val="2D8EA3">
                <a:alpha val="7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PostgreSQL + Análisis de datos + Asistente IA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6928" y="5285232"/>
            <a:ext cx="5303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Gloria Aranda · Jorge Zarricueta · Daniel Paz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66928" y="5614416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8 de septiembre de 2026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498080" y="1417320"/>
            <a:ext cx="4160520" cy="4434840"/>
          </a:xfrm>
          <a:prstGeom prst="roundRect">
            <a:avLst>
              <a:gd fmla="val 1758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818120" y="1810512"/>
            <a:ext cx="1143000" cy="310896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9525">
            <a:solidFill>
              <a:srgbClr val="EAF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Registro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052560" y="1828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372600" y="1810512"/>
            <a:ext cx="1143000" cy="310896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FFF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0607040" y="1828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0927080" y="1810512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F1ECFF"/>
          </a:solidFill>
          <a:ln cap="flat" cmpd="sng" w="9525">
            <a:solidFill>
              <a:srgbClr val="F1E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IA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028432" y="2779776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Datos históricos convertidos en apoyo contextual para el educador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101584" y="4572000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No diagnostica · No reemplaza criterio profesional · Usa información autorizada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38" name="Google Shape;3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Equipo y responsabilidades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Distribución de roles para asegurar gestión, construcción técnica y validación del proyecto.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58368" y="1627632"/>
            <a:ext cx="2971800" cy="3429000"/>
          </a:xfrm>
          <a:prstGeom prst="roundRect">
            <a:avLst>
              <a:gd fmla="val 2462" name="adj"/>
            </a:avLst>
          </a:prstGeom>
          <a:solidFill>
            <a:srgbClr val="FFF4D8"/>
          </a:solidFill>
          <a:ln cap="flat" cmpd="sng" w="9525">
            <a:solidFill>
              <a:srgbClr val="D9E5E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68680" y="1847088"/>
            <a:ext cx="512064" cy="512064"/>
          </a:xfrm>
          <a:prstGeom prst="ellipse">
            <a:avLst/>
          </a:prstGeom>
          <a:solidFill>
            <a:srgbClr val="F4A62A"/>
          </a:solidFill>
          <a:ln cap="flat" cmpd="sng" w="9525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86968" y="2633472"/>
            <a:ext cx="2468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Gloria Aranda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886968" y="29992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62A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F4A62A"/>
                </a:solidFill>
                <a:latin typeface="Arial"/>
                <a:ea typeface="Arial"/>
                <a:cs typeface="Arial"/>
                <a:sym typeface="Arial"/>
              </a:rPr>
              <a:t>Jefe de Proyecto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78408" y="3547872"/>
            <a:ext cx="23042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Gestión del proyecto, planificación, documentación, seguimiento y control.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160520" y="1627632"/>
            <a:ext cx="2971800" cy="3429000"/>
          </a:xfrm>
          <a:prstGeom prst="roundRect">
            <a:avLst>
              <a:gd fmla="val 2462" name="adj"/>
            </a:avLst>
          </a:prstGeom>
          <a:solidFill>
            <a:srgbClr val="EAF7FA"/>
          </a:solidFill>
          <a:ln cap="flat" cmpd="sng" w="9525">
            <a:solidFill>
              <a:srgbClr val="D9E5E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370832" y="1847088"/>
            <a:ext cx="512064" cy="512064"/>
          </a:xfrm>
          <a:prstGeom prst="ellipse">
            <a:avLst/>
          </a:prstGeom>
          <a:solidFill>
            <a:srgbClr val="2D8EA3"/>
          </a:solidFill>
          <a:ln cap="flat" cmpd="sng" w="9525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389120" y="2633472"/>
            <a:ext cx="2468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Jorge Zarricueta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389120" y="29992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Desarrollador de Software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480560" y="3547872"/>
            <a:ext cx="23042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Desarrollo de la aplicación, interfaces, funcionalidades e integración.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7662672" y="1627632"/>
            <a:ext cx="2971800" cy="3429000"/>
          </a:xfrm>
          <a:prstGeom prst="roundRect">
            <a:avLst>
              <a:gd fmla="val 2462" name="adj"/>
            </a:avLst>
          </a:prstGeom>
          <a:solidFill>
            <a:srgbClr val="DFF4F6"/>
          </a:solidFill>
          <a:ln cap="flat" cmpd="sng" w="9525">
            <a:solidFill>
              <a:srgbClr val="D9E5EB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872984" y="1847088"/>
            <a:ext cx="512064" cy="512064"/>
          </a:xfrm>
          <a:prstGeom prst="ellipse">
            <a:avLst/>
          </a:prstGeom>
          <a:solidFill>
            <a:srgbClr val="1F2A44"/>
          </a:solidFill>
          <a:ln cap="flat" cmpd="sng" w="9525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891272" y="2633472"/>
            <a:ext cx="2468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Daniel Paz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7891272" y="2999232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Backend y Datos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982712" y="3547872"/>
            <a:ext cx="230428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PostgreSQL, procesamiento de datos, módulo analítico e integración IA.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</a:t>
            </a:r>
            <a:r>
              <a:rPr lang="en-US" sz="800">
                <a:solidFill>
                  <a:srgbClr val="465465"/>
                </a:solidFill>
              </a:rPr>
              <a:t>-</a:t>
            </a: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64" name="Google Shape;6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4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Problema o dolor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El seguimiento genera mucha información, pero su análisis manual limita la oportunidad de respuesta.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85800" y="1572768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SITUACIÓN ACTUAL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85800" y="1847088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Durante el año escolar se acumulan antecedentes sobre situaciones observadas, contextos, estrategias aplicadas y resultados.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85800" y="3063240"/>
            <a:ext cx="37490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Cuando la información crece, revisar manualmente el historial dificulta identificar recurrencias, antecedentes relevantes y estrategias previamente útiles.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800600" y="1481328"/>
            <a:ext cx="6629400" cy="452628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138928" y="1901952"/>
            <a:ext cx="2240280" cy="329184"/>
          </a:xfrm>
          <a:prstGeom prst="roundRect">
            <a:avLst>
              <a:gd fmla="val 16667" name="adj"/>
            </a:avLst>
          </a:prstGeom>
          <a:solidFill>
            <a:srgbClr val="FFE5B9"/>
          </a:solidFill>
          <a:ln cap="flat" cmpd="sng" w="9525">
            <a:solidFill>
              <a:srgbClr val="FFE5B9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Datos dispersos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7543800" y="193852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001000" y="185623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registros, citas, informes y observaciones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138928" y="3136392"/>
            <a:ext cx="2240280" cy="329184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9525">
            <a:solidFill>
              <a:srgbClr val="EAF7FA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Lectura manual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543800" y="317296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001000" y="309067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mucho tiempo para encontrar antecedentes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138928" y="4370832"/>
            <a:ext cx="2240280" cy="329184"/>
          </a:xfrm>
          <a:prstGeom prst="roundRect">
            <a:avLst>
              <a:gd fmla="val 16667" name="adj"/>
            </a:avLst>
          </a:prstGeom>
          <a:solidFill>
            <a:srgbClr val="FDECEC"/>
          </a:solidFill>
          <a:ln cap="flat" cmpd="sng" w="9525">
            <a:solidFill>
              <a:srgbClr val="FDECEC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Respuesta reactiva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543800" y="440740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001000" y="4325112"/>
            <a:ext cx="26974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se actúa con información incompleta o tardía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Propuesta de solución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 integra gestión, analítica y asistencia conversacional en una sola plataforma.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85800" y="1645920"/>
            <a:ext cx="2057400" cy="2743200"/>
          </a:xfrm>
          <a:prstGeom prst="roundRect">
            <a:avLst>
              <a:gd fmla="val 3556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832104" y="1810512"/>
            <a:ext cx="411480" cy="411480"/>
          </a:xfrm>
          <a:prstGeom prst="ellipse">
            <a:avLst/>
          </a:prstGeom>
          <a:solidFill>
            <a:srgbClr val="2D8EA3"/>
          </a:solidFill>
          <a:ln cap="flat" cmpd="sng" w="9525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832104" y="245059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Registrar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68680" y="28803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Observaciones, contexto, estrategias y resultados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2926080" y="1645920"/>
            <a:ext cx="2057400" cy="2743200"/>
          </a:xfrm>
          <a:prstGeom prst="roundRect">
            <a:avLst>
              <a:gd fmla="val 3556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072384" y="1810512"/>
            <a:ext cx="411480" cy="411480"/>
          </a:xfrm>
          <a:prstGeom prst="ellipse">
            <a:avLst/>
          </a:prstGeom>
          <a:solidFill>
            <a:srgbClr val="2D8EA3"/>
          </a:solidFill>
          <a:ln cap="flat" cmpd="sng" w="9525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3072384" y="245059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Almacenar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3108960" y="28803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Modelo relacional PostgreSQL con integridad y trazabilidad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166360" y="1645920"/>
            <a:ext cx="2057400" cy="2743200"/>
          </a:xfrm>
          <a:prstGeom prst="roundRect">
            <a:avLst>
              <a:gd fmla="val 3556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312664" y="1810512"/>
            <a:ext cx="411480" cy="411480"/>
          </a:xfrm>
          <a:prstGeom prst="ellipse">
            <a:avLst/>
          </a:prstGeom>
          <a:solidFill>
            <a:srgbClr val="1F2A44"/>
          </a:solidFill>
          <a:ln cap="flat" cmpd="sng" w="9525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312664" y="245059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Analizar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349240" y="28803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Tendencias, recurrencias, frecuencias y efectividad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406640" y="1645920"/>
            <a:ext cx="2057400" cy="2743200"/>
          </a:xfrm>
          <a:prstGeom prst="roundRect">
            <a:avLst>
              <a:gd fmla="val 3556" name="adj"/>
            </a:avLst>
          </a:prstGeom>
          <a:solidFill>
            <a:srgbClr val="F1EC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552944" y="1810512"/>
            <a:ext cx="411480" cy="411480"/>
          </a:xfrm>
          <a:prstGeom prst="ellipse">
            <a:avLst/>
          </a:prstGeom>
          <a:solidFill>
            <a:srgbClr val="1F2A44"/>
          </a:solidFill>
          <a:ln cap="flat" cmpd="sng" w="9525">
            <a:solidFill>
              <a:srgbClr val="1F2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552944" y="245059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Consultar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589520" y="28803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Chatbot con lenguaje natural y permisos validados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9646920" y="1645920"/>
            <a:ext cx="2057400" cy="2743200"/>
          </a:xfrm>
          <a:prstGeom prst="roundRect">
            <a:avLst>
              <a:gd fmla="val 3556" name="adj"/>
            </a:avLst>
          </a:prstGeom>
          <a:solidFill>
            <a:srgbClr val="FFE5B9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9793224" y="1810512"/>
            <a:ext cx="411480" cy="411480"/>
          </a:xfrm>
          <a:prstGeom prst="ellipse">
            <a:avLst/>
          </a:prstGeom>
          <a:solidFill>
            <a:srgbClr val="F4A62A"/>
          </a:solidFill>
          <a:ln cap="flat" cmpd="sng" w="9525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9793224" y="2450592"/>
            <a:ext cx="17647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Sugerir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829800" y="2880360"/>
            <a:ext cx="1691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80"/>
              <a:buFont typeface="Arial"/>
              <a:buNone/>
            </a:pPr>
            <a:r>
              <a:rPr lang="en-US" sz="108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Apoyo contextual sin reemplazar criterio profesional</a:t>
            </a:r>
            <a:endParaRPr sz="108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</a:t>
            </a:r>
            <a:r>
              <a:rPr lang="en-US" sz="800">
                <a:solidFill>
                  <a:srgbClr val="465465"/>
                </a:solidFill>
              </a:rPr>
              <a:t> -</a:t>
            </a: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19" name="Google Shape;11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Objetivos del Proyecto APT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Los objetivos conectan requerimientos, arquitectura, desarrollo, analítica, IA y validación.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85800" y="1417320"/>
            <a:ext cx="10835640" cy="1051560"/>
          </a:xfrm>
          <a:prstGeom prst="roundRect">
            <a:avLst>
              <a:gd fmla="val 6957" name="adj"/>
            </a:avLst>
          </a:prstGeom>
          <a:solidFill>
            <a:srgbClr val="FFF7EA"/>
          </a:solidFill>
          <a:ln cap="flat" cmpd="sng" w="9525">
            <a:solidFill>
              <a:srgbClr val="F9D49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60120" y="1591056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62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4A62A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960125" y="1847105"/>
            <a:ext cx="100128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Desarrollar una plataforma informática para el seguimiento educativo de estudiantes con </a:t>
            </a:r>
            <a:r>
              <a:rPr b="1" lang="en-US" sz="1350">
                <a:solidFill>
                  <a:srgbClr val="1F2A44"/>
                </a:solidFill>
              </a:rPr>
              <a:t>neuro divergencias</a:t>
            </a:r>
            <a:r>
              <a:rPr b="1" lang="en-US" sz="13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, integrando gestión de información, análisis de registros conductuales y un asistente basado en inteligencia artificial que permita identificar patrones y entregar sugerencias contextualizadas.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13232" y="2926080"/>
            <a:ext cx="3364992" cy="868680"/>
          </a:xfrm>
          <a:prstGeom prst="roundRect">
            <a:avLst>
              <a:gd fmla="val 842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50392" y="309067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OE1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499616" y="305409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Definir requerimientos funcionales y no funcionales.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416552" y="2926080"/>
            <a:ext cx="3364992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53712" y="309067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OE2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202936" y="305409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Diseñar arquitectura y modelo PostgreSQL.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8119872" y="2926080"/>
            <a:ext cx="3364992" cy="868680"/>
          </a:xfrm>
          <a:prstGeom prst="roundRect">
            <a:avLst>
              <a:gd fmla="val 842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257032" y="309067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OE3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906256" y="305409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Implementar gestión y seguimiento educativo.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713232" y="4160520"/>
            <a:ext cx="3364992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50392" y="432511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OE4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499616" y="428853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Procesar registros e identificar tendencias.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416552" y="4160520"/>
            <a:ext cx="3364992" cy="868680"/>
          </a:xfrm>
          <a:prstGeom prst="roundRect">
            <a:avLst>
              <a:gd fmla="val 842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553712" y="432511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OE5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202936" y="428853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Integrar asistente conversacional con IA.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119872" y="4160520"/>
            <a:ext cx="3364992" cy="86868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257032" y="4325112"/>
            <a:ext cx="5669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OE6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906256" y="4288536"/>
            <a:ext cx="2331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20"/>
              <a:buFont typeface="Arial"/>
              <a:buNone/>
            </a:pPr>
            <a:r>
              <a:rPr b="1" lang="en-US" sz="122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Validar mediante pruebas de software.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7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Alcances y limitaciones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Delimitación clara para mantener factibilidad y controlar expectativas.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85800" y="1417320"/>
            <a:ext cx="5257800" cy="4709160"/>
          </a:xfrm>
          <a:prstGeom prst="roundRect">
            <a:avLst>
              <a:gd fmla="val 1553" name="adj"/>
            </a:avLst>
          </a:prstGeom>
          <a:solidFill>
            <a:srgbClr val="F3FBF6"/>
          </a:solidFill>
          <a:ln cap="flat" cmpd="sng" w="9525">
            <a:solidFill>
              <a:srgbClr val="CDEBD3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960120" y="166420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Alcances principales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960120" y="2212848"/>
            <a:ext cx="4480560" cy="3090672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Gestión de usuarios, roles y estudiantes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Gestión de cursos, agenda y notificaciones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Registro de observaciones conductuales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Registro de estrategias y resultados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Consulta de historial y dashboard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Análisis de tendencias y recurrencias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Asistente conversacional con IA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Generación de sugerencias contextualizadas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263640" y="1417320"/>
            <a:ext cx="5257800" cy="4709160"/>
          </a:xfrm>
          <a:prstGeom prst="roundRect">
            <a:avLst>
              <a:gd fmla="val 1553" name="adj"/>
            </a:avLst>
          </a:prstGeom>
          <a:solidFill>
            <a:srgbClr val="FFF4F4"/>
          </a:solidFill>
          <a:ln cap="flat" cmpd="sng" w="9525">
            <a:solidFill>
              <a:srgbClr val="F4CCCC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537960" y="1664208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Limitaciones declaradas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537960" y="2212848"/>
            <a:ext cx="4480560" cy="2779776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No realiza diagnósticos clínicos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No predice crisis de forma determinista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No reemplaza el criterio del educador o profesional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Las sugerencias dependen de los datos disponibles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El análisis se limita a información registrada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El chatbot puede depender de servicios externos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Usuarios, roles y permisos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El acceso al seguimiento y a la IA se controla según rol y relación con el estudiante.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40080" y="1508760"/>
            <a:ext cx="2514600" cy="2148840"/>
          </a:xfrm>
          <a:prstGeom prst="roundRect">
            <a:avLst>
              <a:gd fmla="val 3404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822960" y="1783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96112" y="2331720"/>
            <a:ext cx="19933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Gestiona usuarios, roles, cursos y trazabilidad.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493008" y="1508760"/>
            <a:ext cx="2514600" cy="2148840"/>
          </a:xfrm>
          <a:prstGeom prst="roundRect">
            <a:avLst>
              <a:gd fmla="val 3404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675888" y="1783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Docente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749040" y="2331720"/>
            <a:ext cx="19933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Registra observaciones, consulta historial, genera informes.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6345936" y="1508760"/>
            <a:ext cx="2514600" cy="2148840"/>
          </a:xfrm>
          <a:prstGeom prst="roundRect">
            <a:avLst>
              <a:gd fmla="val 3404" name="adj"/>
            </a:avLst>
          </a:prstGeom>
          <a:solidFill>
            <a:srgbClr val="F1EC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528816" y="1783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Profesional de apoyo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601968" y="2331720"/>
            <a:ext cx="19933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Registra intervenciones, analiza antecedentes y usa chatbot.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9198864" y="1508760"/>
            <a:ext cx="2514600" cy="2148840"/>
          </a:xfrm>
          <a:prstGeom prst="roundRect">
            <a:avLst>
              <a:gd fmla="val 3404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9381744" y="1783080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Apoderado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9454896" y="2331720"/>
            <a:ext cx="199339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Consulta actividades, informes autorizados y solicitudes de cita.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097280" y="4297680"/>
            <a:ext cx="1001268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417320" y="45537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Control de acceso antes de analizar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417320" y="4956048"/>
            <a:ext cx="9235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320"/>
              <a:buFont typeface="Arial"/>
              <a:buNone/>
            </a:pPr>
            <a:r>
              <a:rPr b="1" lang="en-US" sz="132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Usuario pregunta por un estudiante  →  Backend valida permisos  →  Se recupera solo información autorizada  →  El asistente responde con contexto limitado.</a:t>
            </a:r>
            <a:endParaRPr sz="13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194" name="Google Shape;19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9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Datos que alimentan el análisis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La IA se basa en registros estructurados, no en opiniones sueltas.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58368" y="14173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750"/>
              <a:buFont typeface="Arial"/>
              <a:buNone/>
            </a:pPr>
            <a:r>
              <a:rPr b="1" lang="en-US" sz="75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UNIDAD BASE</a:t>
            </a:r>
            <a:endParaRPr sz="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58368" y="169164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Registro de observación conductual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13232" y="2331720"/>
            <a:ext cx="2514600" cy="566928"/>
          </a:xfrm>
          <a:prstGeom prst="roundRect">
            <a:avLst>
              <a:gd fmla="val 12903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859536" y="2395728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Fecha / hora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859536" y="2606040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30"/>
              <a:buFont typeface="Arial"/>
              <a:buNone/>
            </a:pPr>
            <a:r>
              <a:rPr lang="en-US" sz="83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Cuándo ocurrió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502152" y="2331720"/>
            <a:ext cx="251460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3648456" y="2395728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648456" y="2606040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30"/>
              <a:buFont typeface="Arial"/>
              <a:buNone/>
            </a:pPr>
            <a:r>
              <a:rPr lang="en-US" sz="83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Sala, recreo, transición, actividad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713232" y="3172968"/>
            <a:ext cx="2514600" cy="566928"/>
          </a:xfrm>
          <a:prstGeom prst="roundRect">
            <a:avLst>
              <a:gd fmla="val 12903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859536" y="323697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Conducta observable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59536" y="3447288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30"/>
              <a:buFont typeface="Arial"/>
              <a:buNone/>
            </a:pPr>
            <a:r>
              <a:rPr lang="en-US" sz="83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Qué se observó concretamente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3502152" y="3172968"/>
            <a:ext cx="251460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648456" y="3236976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Intensidad / duración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648456" y="3447288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30"/>
              <a:buFont typeface="Arial"/>
              <a:buNone/>
            </a:pPr>
            <a:r>
              <a:rPr lang="en-US" sz="83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Escala y tiempo registrado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713232" y="4014216"/>
            <a:ext cx="2514600" cy="566928"/>
          </a:xfrm>
          <a:prstGeom prst="roundRect">
            <a:avLst>
              <a:gd fmla="val 12903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859536" y="4078224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Estrategia aplicada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859536" y="4288536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30"/>
              <a:buFont typeface="Arial"/>
              <a:buNone/>
            </a:pPr>
            <a:r>
              <a:rPr lang="en-US" sz="83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Intervención utilizada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502152" y="4014216"/>
            <a:ext cx="251460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648456" y="4078224"/>
            <a:ext cx="10789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Resultado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648456" y="4288536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30"/>
              <a:buFont typeface="Arial"/>
              <a:buNone/>
            </a:pPr>
            <a:r>
              <a:rPr lang="en-US" sz="83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Favorable, parcial, no favorable</a:t>
            </a:r>
            <a:endParaRPr sz="8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675120" y="1572768"/>
            <a:ext cx="4434840" cy="4224528"/>
          </a:xfrm>
          <a:prstGeom prst="roundRect">
            <a:avLst>
              <a:gd fmla="val 1732" name="adj"/>
            </a:avLst>
          </a:prstGeom>
          <a:solidFill>
            <a:srgbClr val="FFFDF8"/>
          </a:solidFill>
          <a:ln cap="flat" cmpd="sng" w="9525">
            <a:solidFill>
              <a:srgbClr val="F0DFC1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995160" y="182880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De dato operacional a información útil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7315200" y="2423160"/>
            <a:ext cx="3063240" cy="301752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9525">
            <a:solidFill>
              <a:srgbClr val="EAF7FA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Registros históricos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714232" y="272491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7315200" y="2926080"/>
            <a:ext cx="3063240" cy="301752"/>
          </a:xfrm>
          <a:prstGeom prst="roundRect">
            <a:avLst>
              <a:gd fmla="val 16667" name="adj"/>
            </a:avLst>
          </a:prstGeom>
          <a:solidFill>
            <a:srgbClr val="EAF6EA"/>
          </a:solidFill>
          <a:ln cap="flat" cmpd="sng" w="9525">
            <a:solidFill>
              <a:srgbClr val="EAF6EA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Consultas SQL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714232" y="322783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7315200" y="3429000"/>
            <a:ext cx="3063240" cy="301752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FFF4D8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Indicadores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8714232" y="373075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315200" y="3931920"/>
            <a:ext cx="3063240" cy="301752"/>
          </a:xfrm>
          <a:prstGeom prst="roundRect">
            <a:avLst>
              <a:gd fmla="val 16667" name="adj"/>
            </a:avLst>
          </a:prstGeom>
          <a:solidFill>
            <a:srgbClr val="F1ECFF"/>
          </a:solidFill>
          <a:ln cap="flat" cmpd="sng" w="9525">
            <a:solidFill>
              <a:srgbClr val="F1ECFF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Contexto para IA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8714232" y="4233672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7315200" y="4434840"/>
            <a:ext cx="3063240" cy="301752"/>
          </a:xfrm>
          <a:prstGeom prst="roundRect">
            <a:avLst>
              <a:gd fmla="val 16667" name="adj"/>
            </a:avLst>
          </a:prstGeom>
          <a:solidFill>
            <a:srgbClr val="FFE5B9"/>
          </a:solidFill>
          <a:ln cap="flat" cmpd="sng" w="9525">
            <a:solidFill>
              <a:srgbClr val="FFE5B9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Sugerencia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236" name="Google Shape;23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0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Módulo de análisis de datos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El sistema procesa registros históricos para identificar tendencias, recurrencias y efectividad.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731520" y="1591056"/>
            <a:ext cx="2423160" cy="1965960"/>
          </a:xfrm>
          <a:prstGeom prst="roundRect">
            <a:avLst>
              <a:gd fmla="val 372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896112" y="18562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Frecuencia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987552" y="2423160"/>
            <a:ext cx="19019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Cantidad de registros por periodo, estudiante o contexto.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520440" y="1591056"/>
            <a:ext cx="2423160" cy="1965960"/>
          </a:xfrm>
          <a:prstGeom prst="roundRect">
            <a:avLst>
              <a:gd fmla="val 3721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685032" y="18562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Recurrencia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3776472" y="2423160"/>
            <a:ext cx="19019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Situaciones que se repiten bajo condiciones similares.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6309360" y="1591056"/>
            <a:ext cx="2423160" cy="1965960"/>
          </a:xfrm>
          <a:prstGeom prst="roundRect">
            <a:avLst>
              <a:gd fmla="val 3721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473952" y="18562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Efectividad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565392" y="2423160"/>
            <a:ext cx="19019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Resultados asociados a estrategias aplicadas.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9098280" y="1591056"/>
            <a:ext cx="2423160" cy="1965960"/>
          </a:xfrm>
          <a:prstGeom prst="roundRect">
            <a:avLst>
              <a:gd fmla="val 3721" name="adj"/>
            </a:avLst>
          </a:prstGeom>
          <a:solidFill>
            <a:srgbClr val="F1EC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9262872" y="185623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Tendencia</a:t>
            </a:r>
            <a:endParaRPr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9354312" y="2423160"/>
            <a:ext cx="1901952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Cambios en intensidad, duración o frecuencia en el tiempo.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097280" y="4251960"/>
            <a:ext cx="9921240" cy="1298448"/>
          </a:xfrm>
          <a:prstGeom prst="roundRect">
            <a:avLst>
              <a:gd fmla="val 5634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417320" y="45079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62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4A62A"/>
                </a:solidFill>
                <a:latin typeface="Arial"/>
                <a:ea typeface="Arial"/>
                <a:cs typeface="Arial"/>
                <a:sym typeface="Arial"/>
              </a:rPr>
              <a:t>Ejemplo de resultado analítico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417320" y="4818888"/>
            <a:ext cx="9144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“En los últimos 30 días, los registros asociados a cambios de rutina aparecen con mayor frecuencia. La estrategia de anticipación visual tuvo resultados favorables en la mayoría de los casos registrados.”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262" name="Google Shape;2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1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Asistente conversacional con IA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La IA es una interfaz de consulta contextual; no toma decisiones ni diagnostica.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822960" y="1508760"/>
            <a:ext cx="4572000" cy="4526280"/>
          </a:xfrm>
          <a:prstGeom prst="roundRect">
            <a:avLst>
              <a:gd fmla="val 1616" name="adj"/>
            </a:avLst>
          </a:prstGeom>
          <a:solidFill>
            <a:srgbClr val="F4FBFC"/>
          </a:solidFill>
          <a:ln cap="flat" cmpd="sng" w="9525">
            <a:solidFill>
              <a:srgbClr val="BFE6EC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143000" y="1783080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Consulta del educador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143000" y="2377440"/>
            <a:ext cx="3566160" cy="777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“Tengo una actividad grupal mañana. ¿Qué antecedentes debo considerar para este estudiante?”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143000" y="3886200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El sistema valida permisos, recupera antecedentes relevantes y genera una respuesta basada en datos autorizados.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852160" y="1508760"/>
            <a:ext cx="5440680" cy="4526280"/>
          </a:xfrm>
          <a:prstGeom prst="roundRect">
            <a:avLst>
              <a:gd fmla="val 1616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199632" y="178308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Respuesta esperada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199632" y="2331720"/>
            <a:ext cx="4434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Se observan antecedentes relacionados con ruido y cambios de rutina. En registros anteriores, la anticipación de la actividad y la reducción de estímulos estuvieron asociadas a mejores resultados.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199632" y="397764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Controles de seguridad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199632" y="4343400"/>
            <a:ext cx="3977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Permisos por rol y estudiante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Contexto mínimo necesario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Trazabilidad de consultas IA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• Respuesta como apoyo profesional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282" name="Google Shape;2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2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Arquitectura de software propuesta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Separación de responsabilidades para facilitar seguridad, escalabilidad y consumo controlado de datos.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502920" y="1536192"/>
            <a:ext cx="2057400" cy="3566160"/>
          </a:xfrm>
          <a:prstGeom prst="roundRect">
            <a:avLst>
              <a:gd fmla="val 3556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667512" y="17830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731520" y="2514600"/>
            <a:ext cx="1600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Docente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Profesional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Apoderado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2834640" y="1536192"/>
            <a:ext cx="2057400" cy="3566160"/>
          </a:xfrm>
          <a:prstGeom prst="roundRect">
            <a:avLst>
              <a:gd fmla="val 3556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2999232" y="17830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F2A44"/>
                </a:solidFill>
              </a:rPr>
              <a:t>Web / PWA 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3063240" y="2514600"/>
            <a:ext cx="1600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Interfaz responsive</a:t>
            </a:r>
            <a:endParaRPr sz="1150">
              <a:solidFill>
                <a:srgbClr val="46546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Instalable en móvil</a:t>
            </a:r>
            <a:endParaRPr sz="1150">
              <a:solidFill>
                <a:srgbClr val="46546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HTTPS</a:t>
            </a:r>
            <a:endParaRPr sz="1150">
              <a:solidFill>
                <a:srgbClr val="465465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Interfaz según rol </a:t>
            </a:r>
            <a:endParaRPr sz="1150">
              <a:solidFill>
                <a:srgbClr val="465465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166360" y="1536192"/>
            <a:ext cx="2057400" cy="3566160"/>
          </a:xfrm>
          <a:prstGeom prst="roundRect">
            <a:avLst>
              <a:gd fmla="val 3556" name="adj"/>
            </a:avLst>
          </a:prstGeom>
          <a:solidFill>
            <a:srgbClr val="FFE5B9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330952" y="17830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Backend / API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5394960" y="2514600"/>
            <a:ext cx="1600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ASP.NET CORE API </a:t>
            </a:r>
            <a:endParaRPr sz="1150">
              <a:solidFill>
                <a:srgbClr val="46546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Autenticación y autorización</a:t>
            </a:r>
            <a:endParaRPr sz="1150">
              <a:solidFill>
                <a:srgbClr val="46546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Roles y permisos</a:t>
            </a:r>
            <a:endParaRPr sz="1150">
              <a:solidFill>
                <a:srgbClr val="46546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Reglas de negocio</a:t>
            </a:r>
            <a:endParaRPr sz="1150">
              <a:solidFill>
                <a:srgbClr val="46546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Gestión de estudiantes</a:t>
            </a:r>
            <a:endParaRPr sz="1150">
              <a:solidFill>
                <a:srgbClr val="46546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Seguimiento conductual</a:t>
            </a:r>
            <a:endParaRPr sz="1150">
              <a:solidFill>
                <a:srgbClr val="465465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Mensajería e informes </a:t>
            </a:r>
            <a:endParaRPr sz="1150">
              <a:solidFill>
                <a:srgbClr val="465465"/>
              </a:solidFill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7498080" y="1536192"/>
            <a:ext cx="2057400" cy="3566100"/>
          </a:xfrm>
          <a:prstGeom prst="roundRect">
            <a:avLst>
              <a:gd fmla="val 3556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7662672" y="17830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7726680" y="2514600"/>
            <a:ext cx="1600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PostgreSQL</a:t>
            </a:r>
            <a:endParaRPr sz="1150">
              <a:solidFill>
                <a:srgbClr val="46546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Modelo relacional</a:t>
            </a:r>
            <a:endParaRPr sz="1150">
              <a:solidFill>
                <a:srgbClr val="46546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Integridad de datos</a:t>
            </a:r>
            <a:endParaRPr sz="1150">
              <a:solidFill>
                <a:srgbClr val="46546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Historial y trazabilidad</a:t>
            </a:r>
            <a:endParaRPr sz="1150">
              <a:solidFill>
                <a:srgbClr val="465465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Auditoría </a:t>
            </a:r>
            <a:endParaRPr sz="1150">
              <a:solidFill>
                <a:srgbClr val="465465"/>
              </a:solidFill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9829800" y="1536192"/>
            <a:ext cx="2057400" cy="3566100"/>
          </a:xfrm>
          <a:prstGeom prst="roundRect">
            <a:avLst>
              <a:gd fmla="val 3556" name="adj"/>
            </a:avLst>
          </a:prstGeom>
          <a:solidFill>
            <a:srgbClr val="F1EC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9994392" y="1783080"/>
            <a:ext cx="1737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Análisis + IA</a:t>
            </a:r>
            <a:endParaRPr sz="1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0058400" y="2514600"/>
            <a:ext cx="17373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Indicadores conductuales 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Contexto autorizado</a:t>
            </a:r>
            <a:endParaRPr sz="1150">
              <a:solidFill>
                <a:srgbClr val="46546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</a:rPr>
              <a:t>Detección de patrones </a:t>
            </a:r>
            <a:endParaRPr sz="1150">
              <a:solidFill>
                <a:srgbClr val="465465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LLM externo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308" name="Google Shape;30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3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Modelo de datos PostgreSQL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La base relacional permitirá integridad, trazabilidad y consultas analíticas sobre el seguimiento.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777240" y="1645920"/>
            <a:ext cx="4800600" cy="1234440"/>
          </a:xfrm>
          <a:prstGeom prst="roundRect">
            <a:avLst>
              <a:gd fmla="val 5926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1051560" y="18470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Gestión base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2788920" y="1865376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usuarios · roles · estudiantes · cursos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apoderado_estudiante · curso_estudiante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6263640" y="1645920"/>
            <a:ext cx="4800600" cy="1234440"/>
          </a:xfrm>
          <a:prstGeom prst="roundRect">
            <a:avLst>
              <a:gd fmla="val 5926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6537960" y="18470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8275320" y="1865376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observacion_conductual · contexto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estrategia · intervencion · resultado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777240" y="3474720"/>
            <a:ext cx="4800600" cy="1234440"/>
          </a:xfrm>
          <a:prstGeom prst="roundRect">
            <a:avLst>
              <a:gd fmla="val 5926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051560" y="36758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Comunicación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2788920" y="3694176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agenda/citas · actividades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notificaciones · informes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6263640" y="3474720"/>
            <a:ext cx="4800600" cy="1234440"/>
          </a:xfrm>
          <a:prstGeom prst="roundRect">
            <a:avLst>
              <a:gd fmla="val 5926" name="adj"/>
            </a:avLst>
          </a:prstGeom>
          <a:solidFill>
            <a:srgbClr val="F1EC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6537960" y="3675888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IA y auditoría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8275320" y="3694176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consulta_ia · feedback_ia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auditoria · historial_acceso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2103120" y="5614416"/>
            <a:ext cx="8046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332" name="Google Shape;33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4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Metodología de trabajo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Cascada controlada, con revisión por hitos e integración progresiva de componentes.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65836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78638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Análisis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81381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Requerimientos y alcance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2249424" y="245059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253288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266090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Diseño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268833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Arquitectura, BD y prototipos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4123944" y="245059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440740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53542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Desarrollo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56285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Backend, app y módulos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5998464" y="245059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628192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FFE5B9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640994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643737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PostgreSQL + análisis + IA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7872984" y="245059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815644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F1EC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828446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831189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Funcionales, integración y seguridad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9747504" y="2450592"/>
            <a:ext cx="25603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10030968" y="1719072"/>
            <a:ext cx="1572768" cy="1828800"/>
          </a:xfrm>
          <a:prstGeom prst="roundRect">
            <a:avLst>
              <a:gd fmla="val 4651" name="adj"/>
            </a:avLst>
          </a:prstGeom>
          <a:solidFill>
            <a:srgbClr val="F5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10158984" y="1938528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10186416" y="2578608"/>
            <a:ext cx="1261872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Evidencias y defensa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005840" y="4462272"/>
            <a:ext cx="1001268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371600" y="4645152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2176272" y="4718304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Trazabilidad entre requerimientos, diseño, desarrollo y pruebas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6309360" y="4645152"/>
            <a:ext cx="731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62A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4A62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7114032" y="4718304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Responsables definidos, revisión conjunta y control del alcance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371" name="Google Shape;3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5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Cronograma de desarrollo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Planificación alineada al recorrido Capstone: definición, desarrollo intensivo y cierre.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731520" y="1691640"/>
            <a:ext cx="2560320" cy="1417320"/>
          </a:xfrm>
          <a:prstGeom prst="roundRect">
            <a:avLst>
              <a:gd fmla="val 5161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896112" y="1874520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Fase 1 · Semanas 1–4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932688" y="2313432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Definición, requerimientos, casos de uso, arquitectura y modelo inicial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3611880" y="1691640"/>
            <a:ext cx="4800600" cy="1417320"/>
          </a:xfrm>
          <a:prstGeom prst="roundRect">
            <a:avLst>
              <a:gd fmla="val 5161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3776472" y="1874520"/>
            <a:ext cx="44714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Fase 2 · Semanas 5–15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3813048" y="2313432"/>
            <a:ext cx="4398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Backend, PostgreSQL, aplicación, seguimiento, análisis, IA, integración y pruebas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8732520" y="1691640"/>
            <a:ext cx="2560320" cy="1417320"/>
          </a:xfrm>
          <a:prstGeom prst="roundRect">
            <a:avLst>
              <a:gd fmla="val 5161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8897112" y="1874520"/>
            <a:ext cx="2231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Fase 3 · Semanas 16–18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8933688" y="2313432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Documentación, presentación final y defensa de TEAprendo</a:t>
            </a:r>
            <a:endParaRPr sz="103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73152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132588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192024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251460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EAF7FA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310896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370332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29768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489204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5"/>
          <p:cNvSpPr/>
          <p:nvPr/>
        </p:nvSpPr>
        <p:spPr>
          <a:xfrm>
            <a:off x="548640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608076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62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4A62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667512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5"/>
          <p:cNvSpPr/>
          <p:nvPr/>
        </p:nvSpPr>
        <p:spPr>
          <a:xfrm>
            <a:off x="726948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5"/>
          <p:cNvSpPr/>
          <p:nvPr/>
        </p:nvSpPr>
        <p:spPr>
          <a:xfrm>
            <a:off x="786384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5"/>
          <p:cNvSpPr/>
          <p:nvPr/>
        </p:nvSpPr>
        <p:spPr>
          <a:xfrm>
            <a:off x="845820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905256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FFF4D8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62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4A62A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964692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EAF6EA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1024128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EAF6EA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5"/>
          <p:cNvSpPr/>
          <p:nvPr/>
        </p:nvSpPr>
        <p:spPr>
          <a:xfrm>
            <a:off x="10835640" y="3950208"/>
            <a:ext cx="384048" cy="292608"/>
          </a:xfrm>
          <a:prstGeom prst="roundRect">
            <a:avLst>
              <a:gd fmla="val 16667" name="adj"/>
            </a:avLst>
          </a:prstGeom>
          <a:solidFill>
            <a:srgbClr val="EAF6EA"/>
          </a:solidFill>
          <a:ln cap="flat" cmpd="sng" w="9525">
            <a:solidFill>
              <a:srgbClr val="DCE7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62A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4A62A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1051560" y="5074920"/>
            <a:ext cx="10058400" cy="502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Hitos: Semana 4 exposición de propuesta · Semana 10 evaluación de avance · Semana 15 entrega del desarrollo · Semanas 17–18 defensa final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6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4A62A"/>
          </a:solidFill>
          <a:ln cap="flat" cmpd="sng" w="12700">
            <a:solidFill>
              <a:srgbClr val="F4A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4A62A">
              <a:alpha val="74902"/>
            </a:srgbClr>
          </a:solidFill>
          <a:ln cap="flat" cmpd="sng" w="12700">
            <a:solidFill>
              <a:srgbClr val="F4A62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410" name="Google Shape;4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6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Evidencias y criterios de éxito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Los entregables demostrarán avance técnico, integración y validación del producto.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777240" y="1600200"/>
            <a:ext cx="3246120" cy="3611880"/>
          </a:xfrm>
          <a:prstGeom prst="roundRect">
            <a:avLst>
              <a:gd fmla="val 2254" name="adj"/>
            </a:avLst>
          </a:prstGeom>
          <a:solidFill>
            <a:srgbClr val="EAF7F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1005840" y="1856232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1280160" y="2487168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Modelo ER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Prototipos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Prototipo funcional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4480560" y="1600200"/>
            <a:ext cx="3246120" cy="3611880"/>
          </a:xfrm>
          <a:prstGeom prst="roundRect">
            <a:avLst>
              <a:gd fmla="val 2254" name="adj"/>
            </a:avLst>
          </a:prstGeom>
          <a:solidFill>
            <a:srgbClr val="EAF6EA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4709160" y="1856232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6"/>
          <p:cNvSpPr/>
          <p:nvPr/>
        </p:nvSpPr>
        <p:spPr>
          <a:xfrm>
            <a:off x="4983480" y="2487168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PostgreSQL implementado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Módulo analítico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Asistente IA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Plan y resultados de pruebas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Versión funcional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6"/>
          <p:cNvSpPr/>
          <p:nvPr/>
        </p:nvSpPr>
        <p:spPr>
          <a:xfrm>
            <a:off x="8183880" y="1600200"/>
            <a:ext cx="3246120" cy="3611880"/>
          </a:xfrm>
          <a:prstGeom prst="roundRect">
            <a:avLst>
              <a:gd fmla="val 2254" name="adj"/>
            </a:avLst>
          </a:prstGeom>
          <a:solidFill>
            <a:srgbClr val="FFF4D8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6"/>
          <p:cNvSpPr/>
          <p:nvPr/>
        </p:nvSpPr>
        <p:spPr>
          <a:xfrm>
            <a:off x="8412480" y="1856232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Validación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6"/>
          <p:cNvSpPr/>
          <p:nvPr/>
        </p:nvSpPr>
        <p:spPr>
          <a:xfrm>
            <a:off x="8686800" y="2487168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Trazabilidad RF/RNF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Pruebas funcionales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Pruebas de integración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Pruebas de seguridad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220"/>
              <a:buFont typeface="Arial"/>
              <a:buNone/>
            </a:pPr>
            <a:r>
              <a:rPr lang="en-US" sz="122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Evidencia de ejecución</a:t>
            </a:r>
            <a:endParaRPr sz="12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8EA3"/>
          </a:solidFill>
          <a:ln cap="flat" cmpd="sng" w="12700">
            <a:solidFill>
              <a:srgbClr val="2D8E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2D8EA3">
              <a:alpha val="74902"/>
            </a:srgbClr>
          </a:solidFill>
          <a:ln cap="flat" cmpd="sng" w="12700">
            <a:solidFill>
              <a:srgbClr val="2D8E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384048" y="6510528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· Capstone 2026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ppt_extract/ppt/media/image1.jpg" id="430" name="Google Shape;43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7968" y="164592"/>
            <a:ext cx="283464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17"/>
          <p:cNvSpPr/>
          <p:nvPr/>
        </p:nvSpPr>
        <p:spPr>
          <a:xfrm>
            <a:off x="502920" y="438912"/>
            <a:ext cx="8138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600"/>
              <a:buFont typeface="Play"/>
              <a:buNone/>
            </a:pPr>
            <a:r>
              <a:rPr b="1" lang="en-US" sz="2600">
                <a:solidFill>
                  <a:srgbClr val="1F2A44"/>
                </a:solidFill>
                <a:latin typeface="Play"/>
                <a:ea typeface="Play"/>
                <a:cs typeface="Play"/>
                <a:sym typeface="Play"/>
              </a:rPr>
              <a:t>Cierre de la propuesta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530352" y="94183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TEAprendo busca transformar datos educativos en apoyo oportuno para el seguimiento.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960120" y="1600200"/>
            <a:ext cx="10195560" cy="3429000"/>
          </a:xfrm>
          <a:prstGeom prst="roundRect">
            <a:avLst>
              <a:gd fmla="val 2133" name="adj"/>
            </a:avLst>
          </a:prstGeom>
          <a:solidFill>
            <a:srgbClr val="F8FBFC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1417320" y="1965960"/>
            <a:ext cx="9235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A44"/>
                </a:solidFill>
                <a:latin typeface="Arial"/>
                <a:ea typeface="Arial"/>
                <a:cs typeface="Arial"/>
                <a:sym typeface="Arial"/>
              </a:rPr>
              <a:t>TEAprendo no se limita a almacenar información.</a:t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1600200" y="2770632"/>
            <a:ext cx="8869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65465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65465"/>
                </a:solidFill>
                <a:latin typeface="Arial"/>
                <a:ea typeface="Arial"/>
                <a:cs typeface="Arial"/>
                <a:sym typeface="Arial"/>
              </a:rPr>
              <a:t>El valor del proyecto está en registrar datos relevantes, analizarlos, identificar patrones y entregar sugerencias contextualizadas mediante un asistente IA seguro y controlado.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2011680" y="4041648"/>
            <a:ext cx="8092440" cy="3840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CE7ED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8EA3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2D8EA3"/>
                </a:solidFill>
                <a:latin typeface="Arial"/>
                <a:ea typeface="Arial"/>
                <a:cs typeface="Arial"/>
                <a:sym typeface="Arial"/>
              </a:rPr>
              <a:t>Datos → Análisis → Contexto → Sugerencia → Decisión profesional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5010912" y="5715000"/>
            <a:ext cx="2176272" cy="411480"/>
          </a:xfrm>
          <a:prstGeom prst="roundRect">
            <a:avLst>
              <a:gd fmla="val 16667" name="adj"/>
            </a:avLst>
          </a:prstGeom>
          <a:solidFill>
            <a:srgbClr val="1F2A44"/>
          </a:solidFill>
          <a:ln cap="flat" cmpd="sng" w="9525">
            <a:solidFill>
              <a:srgbClr val="1F2A44">
                <a:alpha val="8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Preguntas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2026-09-07T01:56:55Z</dcterms:created>
  <dc:creator>Daniel Paz</dc:creator>
</cp:coreProperties>
</file>